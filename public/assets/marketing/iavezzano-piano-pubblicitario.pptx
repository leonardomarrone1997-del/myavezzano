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pic>
        <p:nvPicPr>
          <p:cNvPr id="3" name="Image 0" descr="/mnt/data/app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5669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67665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481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PIANO PUBBLICITARIO LOCALE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 parlare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Avezzano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49808" y="36576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Strategia professionale di lancio: negozi partner, QR code, curiosità in città, eventi e ambassador.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475488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mnt/data/iavezzan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864608"/>
            <a:ext cx="786384" cy="7863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5870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Scansiona l’app</a:t>
            </a:r>
            <a:endParaRPr lang="en-US" sz="900" dirty="0"/>
          </a:p>
        </p:txBody>
      </p:sp>
      <p:pic>
        <p:nvPicPr>
          <p:cNvPr id="11" name="Image 2" descr="/mnt/data/visual_cov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02920"/>
            <a:ext cx="379476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una pubblicità: una presenza cittadina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L’app deve sembrare già parte della vita quotidiana di Avezzano.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12848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591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Negozi partner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77824" y="34564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visibili in vetrina, banco e punto cassa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196596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2212848"/>
            <a:ext cx="530352" cy="530352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3591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Curiosità urbana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26864" y="34564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 QR, messaggi brevi e caccia al codice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6448" y="196596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212848"/>
            <a:ext cx="530352" cy="53035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3591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e persone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75904" y="34564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Stand, ambassador e codici personali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34440" y="5532120"/>
            <a:ext cx="9692640" cy="475488"/>
          </a:xfrm>
          <a:prstGeom prst="roundRect">
            <a:avLst>
              <a:gd name="adj" fmla="val 13462"/>
            </a:avLst>
          </a:prstGeom>
          <a:solidFill>
            <a:srgbClr val="061A37"/>
          </a:solidFill>
          <a:ln w="12700">
            <a:solidFill>
              <a:srgbClr val="061A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67842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guida: 70% presenza nei negozi partner • 30% pubblicità esterna e traffico cittadino</a:t>
            </a:r>
            <a:endParaRPr lang="en-US" sz="1250" dirty="0"/>
          </a:p>
        </p:txBody>
      </p:sp>
      <p:pic>
        <p:nvPicPr>
          <p:cNvPr id="22" name="Image 0" descr="/mnt/data/app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IDENTITÀ VISIVA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Colori che si vedono da lontano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 palette da usare a rotazione per non diventare invisibili.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Energia solare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3272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FAI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STASERA?</a:t>
            </a:r>
            <a:endParaRPr lang="en-US" sz="2800" dirty="0"/>
          </a:p>
        </p:txBody>
      </p:sp>
      <p:pic>
        <p:nvPicPr>
          <p:cNvPr id="8" name="Image 0" descr="/mnt/data/iavezzan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977640"/>
            <a:ext cx="749808" cy="749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4133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SCARICA GRATIS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33272" y="5065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Massima attenzione su strada e banco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07992" y="196596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64024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Energia fuoco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64024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FAI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STASERA?</a:t>
            </a:r>
            <a:endParaRPr lang="en-US" sz="2800" dirty="0"/>
          </a:p>
        </p:txBody>
      </p:sp>
      <p:pic>
        <p:nvPicPr>
          <p:cNvPr id="14" name="Image 1" descr="/mnt/data/iavezzan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977640"/>
            <a:ext cx="749808" cy="7498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50992" y="4133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SCARICA GRATIS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64024" y="5065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Ideale per eventi, serate e promo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38744" y="196596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94776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Energia acqua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8494776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FAI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STASERA?</a:t>
            </a:r>
            <a:endParaRPr lang="en-US" sz="2800" dirty="0"/>
          </a:p>
        </p:txBody>
      </p:sp>
      <p:pic>
        <p:nvPicPr>
          <p:cNvPr id="20" name="Image 2" descr="/mnt/data/iavezzan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3977640"/>
            <a:ext cx="749808" cy="7498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1744" y="4133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SCARICA GRATIS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94776" y="5065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Fresca, urbana, adatta ai negozi</a:t>
            </a:r>
            <a:endParaRPr lang="en-US" sz="1100" dirty="0"/>
          </a:p>
        </p:txBody>
      </p:sp>
      <p:pic>
        <p:nvPicPr>
          <p:cNvPr id="23" name="Image 3" descr="/mnt/data/app-icon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 parlare la città nei negozi partner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attività aderente diventa un punto media locale.</a:t>
            </a:r>
            <a:endParaRPr lang="en-US" sz="1250" dirty="0"/>
          </a:p>
        </p:txBody>
      </p:sp>
      <p:pic>
        <p:nvPicPr>
          <p:cNvPr id="5" name="Image 0" descr="/mnt/data/visual_shopk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52120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874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1874520"/>
            <a:ext cx="91440" cy="841248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2020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Espositore A5/A4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46520" y="22951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Banco, cassa, reception. Titolo forte, QR centrale, CTA “Scarica gratis”.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3017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3017520"/>
            <a:ext cx="91440" cy="841248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3163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Vetrofania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34381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Adesivo porta/vetrina: “Presente su iAvezzano”. Visibilità continua.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4160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160520"/>
            <a:ext cx="91440" cy="841248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306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Tovagliette e sottobicchieri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45811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e ristoranti: il cliente è seduto e ha tempo di scansionare.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46520" y="544068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061A37"/>
          </a:solidFill>
          <a:ln w="12700">
            <a:solidFill>
              <a:srgbClr val="061A3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5532120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 PARTNER GRATUITO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32520" y="5504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Vetrofania + QR personalizzato + scheda sull’app + mini guida per il commerciante.</a:t>
            </a:r>
            <a:endParaRPr lang="en-US" sz="1100" dirty="0"/>
          </a:p>
        </p:txBody>
      </p:sp>
      <p:pic>
        <p:nvPicPr>
          <p:cNvPr id="21" name="Image 1" descr="/mnt/data/app-icon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 TESTUALI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Messaggi pronti per stampati e QR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Poche parole, molto contrasto, una sola azione.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ESPOSITORE DA BANCO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SCOPRI COSA SUCCEDE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AVEZZANO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• Sconti • Coupon • Attività locali</a:t>
            </a:r>
            <a:endParaRPr lang="en-US" sz="1050" dirty="0"/>
          </a:p>
        </p:txBody>
      </p:sp>
      <p:pic>
        <p:nvPicPr>
          <p:cNvPr id="9" name="Image 0" descr="/mnt/data/iavezzan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868680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56816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SCARICA GRATIS iAvezzano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80560" y="187452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061A37"/>
          </a:solidFill>
          <a:ln w="12700">
            <a:solidFill>
              <a:srgbClr val="061A3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81728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VETROFANIA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81728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 SU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81728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Scopri offerte, eventi e novità della tua città</a:t>
            </a:r>
            <a:endParaRPr lang="en-US" sz="1050" dirty="0"/>
          </a:p>
        </p:txBody>
      </p:sp>
      <p:pic>
        <p:nvPicPr>
          <p:cNvPr id="15" name="Image 1" descr="/mnt/data/iavezzan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4160520"/>
            <a:ext cx="868680" cy="8686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24144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SCANSIONA IL QR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47888" y="187452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49056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TOVAGLIETTA BAR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449056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FAI STASERA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AVEZZANO?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8449056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Eventi, serate e sconti vicino a te</a:t>
            </a:r>
            <a:endParaRPr lang="en-US" sz="1050" dirty="0"/>
          </a:p>
        </p:txBody>
      </p:sp>
      <p:pic>
        <p:nvPicPr>
          <p:cNvPr id="21" name="Image 2" descr="/mnt/data/iavezzan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4160520"/>
            <a:ext cx="868680" cy="8686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91472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 L’APP</a:t>
            </a:r>
            <a:endParaRPr lang="en-US" sz="1050" dirty="0"/>
          </a:p>
        </p:txBody>
      </p:sp>
      <p:pic>
        <p:nvPicPr>
          <p:cNvPr id="23" name="Image 3" descr="/mnt/data/app-icon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Creare curiosità: il QR diventa un gioco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L’obiettivo non è spiegare tutto. È far scansionare.</a:t>
            </a:r>
            <a:endParaRPr lang="en-US" sz="1250" dirty="0"/>
          </a:p>
        </p:txBody>
      </p:sp>
      <p:pic>
        <p:nvPicPr>
          <p:cNvPr id="5" name="Image 0" descr="/mnt/data/visual_outdo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005840"/>
            <a:ext cx="3337560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057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0D2E5A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286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 QR IN PIAZZA RISORGIMENTO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2615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AVEZZANO HA FINALMENTE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SUA APP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709160" y="225856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mnt/data/iavezzan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368296"/>
            <a:ext cx="557784" cy="5577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37033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0D2E5A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D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CAMPAGNA “TROVA IL QR”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60120" y="4315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Coupon, punti e premi per chi trova i QR nascosti in città.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60120" y="47274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Meccanica: ogni QR ha un codice diverso, così misuri zone, negozi ed eventi che portano più installazioni.</a:t>
            </a:r>
            <a:endParaRPr lang="en-US" sz="1150" dirty="0"/>
          </a:p>
        </p:txBody>
      </p:sp>
      <p:pic>
        <p:nvPicPr>
          <p:cNvPr id="15" name="Image 2" descr="/mnt/data/app-ic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Eventi, stand e ambassador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Portare le persone all’app nel momento in cui hanno già il telefono in mano.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visual_st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84832"/>
            <a:ext cx="2084832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82112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iAvezzano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182112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usare in fiere, street food, manifestazioni ed eventi cittadini.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82112" y="3273552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FF5A1F"/>
          </a:solidFill>
          <a:ln w="12700">
            <a:solidFill>
              <a:srgbClr val="FF5A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3364992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gigante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34256" y="3273552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17C3B2"/>
          </a:solidFill>
          <a:ln w="12700">
            <a:solidFill>
              <a:srgbClr val="17C3B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43984" y="3364992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dell’app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82112" y="3803904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FF5A1F"/>
          </a:solidFill>
          <a:ln w="12700">
            <a:solidFill>
              <a:srgbClr val="FF5A1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389534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Premio immediato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34256" y="3803904"/>
            <a:ext cx="1060704" cy="329184"/>
          </a:xfrm>
          <a:prstGeom prst="roundRect">
            <a:avLst>
              <a:gd name="adj" fmla="val 16667"/>
            </a:avLst>
          </a:prstGeom>
          <a:solidFill>
            <a:srgbClr val="17C3B2"/>
          </a:solidFill>
          <a:ln w="12700">
            <a:solidFill>
              <a:srgbClr val="17C3B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3984" y="389534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social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1847088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061A37"/>
          </a:solidFill>
          <a:ln w="12700">
            <a:solidFill>
              <a:srgbClr val="061A3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29400" y="21762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Ambassador locali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629400" y="26334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Baristi, commercianti e micro-influencer con codice personale.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2940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D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CODICE MARYNDA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629400" y="4160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si registra con il codice riceve punti bonus; il negozio vede quante iscrizioni ha generato.</a:t>
            </a:r>
            <a:endParaRPr lang="en-US" sz="1350" dirty="0"/>
          </a:p>
        </p:txBody>
      </p:sp>
      <p:pic>
        <p:nvPicPr>
          <p:cNvPr id="22" name="Image 1" descr="/mnt/data/app-icon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PUBBLICITÀ ESTERNA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Vela pubblicitaria: 2 secondi per farsi capire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 minimo, QR grande, colori ad alto contrasto.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063240" cy="4114800"/>
          </a:xfrm>
          <a:prstGeom prst="roundRect">
            <a:avLst>
              <a:gd name="adj" fmla="val 2388"/>
            </a:avLst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FAI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STASERA?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5156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• SCONTI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NEGOZI • COUPON</a:t>
            </a:r>
            <a:endParaRPr lang="en-US" sz="1300" dirty="0"/>
          </a:p>
        </p:txBody>
      </p:sp>
      <p:pic>
        <p:nvPicPr>
          <p:cNvPr id="9" name="Image 0" descr="/mnt/data/iavezzan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572000"/>
            <a:ext cx="960120" cy="960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0" y="1901952"/>
            <a:ext cx="384048" cy="384048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2011680"/>
            <a:ext cx="137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84064" y="1975104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+ domanda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0" y="2743200"/>
            <a:ext cx="384048" cy="38404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2852928"/>
            <a:ext cx="137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84064" y="281635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Quattro benefici massimo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0" y="3584448"/>
            <a:ext cx="384048" cy="38404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90872" y="3694176"/>
            <a:ext cx="137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84064" y="365760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leggibile da distanza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0" y="4425696"/>
            <a:ext cx="384048" cy="384048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4535424"/>
            <a:ext cx="137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84064" y="449884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Niente paragrafi</a:t>
            </a:r>
            <a:endParaRPr lang="en-US" sz="1500" dirty="0"/>
          </a:p>
        </p:txBody>
      </p:sp>
      <p:pic>
        <p:nvPicPr>
          <p:cNvPr id="22" name="Image 1" descr="/mnt/data/visual_vel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37360"/>
            <a:ext cx="3429000" cy="4315968"/>
          </a:xfrm>
          <a:prstGeom prst="rect">
            <a:avLst/>
          </a:prstGeom>
        </p:spPr>
      </p:pic>
      <p:pic>
        <p:nvPicPr>
          <p:cNvPr id="23" name="Image 2" descr="/mnt/data/app-ic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 PARTNER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 trasformare 30 negozi in 30 punti pubblicitari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negozio riceve materiali + QR tracciato + beneficio immediato.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58568"/>
            <a:ext cx="475488" cy="47548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456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Vetrofania “Presente su iAvezzano”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3246120"/>
            <a:ext cx="384048" cy="512064"/>
          </a:xfrm>
          <a:prstGeom prst="chevron">
            <a:avLst/>
          </a:prstGeom>
          <a:solidFill>
            <a:srgbClr val="CCD6E4"/>
          </a:solidFill>
          <a:ln w="12700">
            <a:solidFill>
              <a:srgbClr val="CCD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258568"/>
            <a:ext cx="475488" cy="475488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0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21608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21608" y="3456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Espositore A5 con QR personalizzato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246120"/>
            <a:ext cx="384048" cy="512064"/>
          </a:xfrm>
          <a:prstGeom prst="chevron">
            <a:avLst/>
          </a:prstGeom>
          <a:solidFill>
            <a:srgbClr val="CCD6E4"/>
          </a:solidFill>
          <a:ln w="12700">
            <a:solidFill>
              <a:srgbClr val="CCD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01168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2258568"/>
            <a:ext cx="475488" cy="47548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10528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3456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Scansione e registrazione con bonus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3246120"/>
            <a:ext cx="384048" cy="512064"/>
          </a:xfrm>
          <a:prstGeom prst="chevron">
            <a:avLst/>
          </a:prstGeom>
          <a:solidFill>
            <a:srgbClr val="CCD6E4"/>
          </a:solidFill>
          <a:ln w="12700">
            <a:solidFill>
              <a:srgbClr val="CCD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011680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99448" y="2258568"/>
            <a:ext cx="475488" cy="475488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241401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99448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Negozio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99448" y="3456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Scheda visibile, coupon e statistiche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715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atteso: l’app viene vista più volte nella stessa giornata, in contesti diversi, da persone reali della città.</a:t>
            </a:r>
            <a:endParaRPr lang="en-US" sz="1350" dirty="0"/>
          </a:p>
        </p:txBody>
      </p:sp>
      <p:pic>
        <p:nvPicPr>
          <p:cNvPr id="29" name="Image 0" descr="/mnt/data/app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E MISURAZIONE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Investire dove l’installazione è più probabile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priorità è generare scansioni tracciabili, non solo visibilità generica.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800600" cy="3703320"/>
          </a:xfrm>
          <a:prstGeom prst="roundRect">
            <a:avLst>
              <a:gd name="adj" fmla="val 1975"/>
            </a:avLst>
          </a:prstGeom>
          <a:solidFill>
            <a:srgbClr val="061A37"/>
          </a:solidFill>
          <a:ln w="12700">
            <a:solidFill>
              <a:srgbClr val="061A3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121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Allocazione consigliata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25880" y="2788920"/>
            <a:ext cx="1965960" cy="1965960"/>
          </a:xfrm>
          <a:prstGeom prst="arc">
            <a:avLst/>
          </a:prstGeom>
          <a:solidFill>
            <a:srgbClr val="061A37">
              <a:alpha val="0"/>
            </a:srgbClr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00200" y="3858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negozi partner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6600000">
            <a:off x="3383280" y="2788920"/>
            <a:ext cx="1965960" cy="1965960"/>
          </a:xfrm>
          <a:prstGeom prst="arc">
            <a:avLst/>
          </a:prstGeom>
          <a:solidFill>
            <a:srgbClr val="061A37">
              <a:alpha val="0"/>
            </a:srgbClr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21024" y="3858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pubblicità esterna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267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negozi partner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01968" y="2523744"/>
            <a:ext cx="3200400" cy="146304"/>
          </a:xfrm>
          <a:prstGeom prst="roundRect">
            <a:avLst>
              <a:gd name="adj" fmla="val 37500"/>
            </a:avLst>
          </a:prstGeom>
          <a:solidFill>
            <a:srgbClr val="E8EEF7"/>
          </a:solidFill>
          <a:ln w="12700">
            <a:solidFill>
              <a:srgbClr val="E8EE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2523744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17C3B2"/>
          </a:solidFill>
          <a:ln w="12700">
            <a:solidFill>
              <a:srgbClr val="17C3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441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1968" y="30723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Vele / affissioni / maxi QR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01968" y="3328416"/>
            <a:ext cx="3200400" cy="146304"/>
          </a:xfrm>
          <a:prstGeom prst="roundRect">
            <a:avLst>
              <a:gd name="adj" fmla="val 37500"/>
            </a:avLst>
          </a:prstGeom>
          <a:solidFill>
            <a:srgbClr val="E8EEF7"/>
          </a:solidFill>
          <a:ln w="12700">
            <a:solidFill>
              <a:srgbClr val="E8EE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3328416"/>
            <a:ext cx="960120" cy="146304"/>
          </a:xfrm>
          <a:prstGeom prst="roundRect">
            <a:avLst>
              <a:gd name="adj" fmla="val 37500"/>
            </a:avLst>
          </a:prstGeom>
          <a:solidFill>
            <a:srgbClr val="FFD400"/>
          </a:solidFill>
          <a:ln w="12700">
            <a:solidFill>
              <a:srgbClr val="FFD4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D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68" y="3877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e stand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01968" y="4133088"/>
            <a:ext cx="3200400" cy="146304"/>
          </a:xfrm>
          <a:prstGeom prst="roundRect">
            <a:avLst>
              <a:gd name="adj" fmla="val 37500"/>
            </a:avLst>
          </a:prstGeom>
          <a:solidFill>
            <a:srgbClr val="E8EEF7"/>
          </a:solidFill>
          <a:ln w="12700">
            <a:solidFill>
              <a:srgbClr val="E8EEF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133088"/>
            <a:ext cx="1440180" cy="146304"/>
          </a:xfrm>
          <a:prstGeom prst="roundRect">
            <a:avLst>
              <a:gd name="adj" fmla="val 37500"/>
            </a:avLst>
          </a:prstGeom>
          <a:solidFill>
            <a:srgbClr val="FF5A1F"/>
          </a:solidFill>
          <a:ln w="12700">
            <a:solidFill>
              <a:srgbClr val="FF5A1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4050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01968" y="46817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organico e ambassador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01968" y="4937760"/>
            <a:ext cx="3200400" cy="146304"/>
          </a:xfrm>
          <a:prstGeom prst="roundRect">
            <a:avLst>
              <a:gd name="adj" fmla="val 37500"/>
            </a:avLst>
          </a:prstGeom>
          <a:solidFill>
            <a:srgbClr val="E8EEF7"/>
          </a:solidFill>
          <a:ln w="12700">
            <a:solidFill>
              <a:srgbClr val="E8EEF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1968" y="4937760"/>
            <a:ext cx="1760220" cy="146304"/>
          </a:xfrm>
          <a:prstGeom prst="roundRect">
            <a:avLst>
              <a:gd name="adj" fmla="val 37500"/>
            </a:avLst>
          </a:prstGeom>
          <a:solidFill>
            <a:srgbClr val="FF2E88"/>
          </a:solidFill>
          <a:ln w="12700">
            <a:solidFill>
              <a:srgbClr val="FF2E8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4855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2E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5715000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da leggere ogni settimana: scansioni QR, registrazioni, coupon salvati, negozi attivi, costo per nuova iscrizione.</a:t>
            </a:r>
            <a:endParaRPr lang="en-US" sz="1200" dirty="0"/>
          </a:p>
        </p:txBody>
      </p:sp>
      <p:pic>
        <p:nvPicPr>
          <p:cNvPr id="31" name="Image 0" descr="/mnt/data/app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90 GIORNI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1A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lancio in tre onde, non tutto insieme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 radicamento locale, poi curiosità, poi eventi e amplificazione.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182112" cy="35661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3182112" cy="164592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giorni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20–30 attività, vetrofanie, espositori, QR personalizzati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43784" y="44348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iavezzan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3512" y="4544568"/>
            <a:ext cx="493776" cy="49377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80560" y="1965960"/>
            <a:ext cx="3182112" cy="35661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965960"/>
            <a:ext cx="3182112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33172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giorni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Curiosità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709160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 QR, “Trova il QR”, prime micro-affissioni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47104" y="44348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/mnt/data/iavezzano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4544568"/>
            <a:ext cx="493776" cy="49377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83880" y="1965960"/>
            <a:ext cx="3182112" cy="35661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83880" y="1965960"/>
            <a:ext cx="3182112" cy="164592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12480" y="233172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giorni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412480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8412480" y="3291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Stand, ambassador, codici bonus, prime campagne esterne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250424" y="443484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/mnt/data/iavezzan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4544568"/>
            <a:ext cx="493776" cy="493776"/>
          </a:xfrm>
          <a:prstGeom prst="rect">
            <a:avLst/>
          </a:prstGeom>
        </p:spPr>
      </p:pic>
      <p:pic>
        <p:nvPicPr>
          <p:cNvPr id="26" name="Image 3" descr="/mnt/data/app-icon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" y="630936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9264" y="6336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1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7"/>
          </a:solidFill>
          <a:ln w="12700">
            <a:solidFill>
              <a:srgbClr val="061A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pic>
        <p:nvPicPr>
          <p:cNvPr id="4" name="Image 0" descr="/mnt/data/app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71323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4752" y="877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iAvezzano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 finale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Diventare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l’app che Avezzano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riconosce ovunque.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il logo appare in bar, ristoranti, negozi, palestre, eventi e affissioni, iAvezzano non sembra più “una nuova app”: sembra la guida ufficiale della città.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3720" y="192024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mnt/data/iavezzan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029968"/>
            <a:ext cx="1014984" cy="10149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32644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Scansiona e scopri</a:t>
            </a:r>
            <a:endParaRPr lang="en-US" sz="900" dirty="0"/>
          </a:p>
        </p:txBody>
      </p:sp>
      <p:pic>
        <p:nvPicPr>
          <p:cNvPr id="12" name="Image 2" descr="/mnt/data/visual_clos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005840"/>
            <a:ext cx="269748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iAvezzano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iAvezzano - Piano pubblicitario locale</dc:title>
  <dc:subject>Piano lancio iAvezzano</dc:subject>
  <dc:creator>OpenAI</dc:creator>
  <cp:lastModifiedBy>OpenAI</cp:lastModifiedBy>
  <cp:revision>1</cp:revision>
  <dcterms:created xsi:type="dcterms:W3CDTF">2026-06-05T14:00:52Z</dcterms:created>
  <dcterms:modified xsi:type="dcterms:W3CDTF">2026-06-05T14:00:52Z</dcterms:modified>
</cp:coreProperties>
</file>